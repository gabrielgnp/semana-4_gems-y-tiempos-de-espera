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7"/>
  </p:notesMasterIdLst>
  <p:sldIdLst>
    <p:sldId id="256" r:id="rId2"/>
    <p:sldId id="258" r:id="rId3"/>
    <p:sldId id="257" r:id="rId4"/>
    <p:sldId id="291" r:id="rId5"/>
    <p:sldId id="290" r:id="rId6"/>
  </p:sldIdLst>
  <p:sldSz cx="12192000" cy="6858000"/>
  <p:notesSz cx="6858000" cy="9144000"/>
  <p:embeddedFontLst>
    <p:embeddedFont>
      <p:font typeface="Archivo" panose="020B0604020202020204" charset="0"/>
      <p:regular r:id="rId8"/>
      <p:bold r:id="rId9"/>
      <p:italic r:id="rId10"/>
      <p:boldItalic r:id="rId11"/>
    </p:embeddedFont>
    <p:embeddedFont>
      <p:font typeface="Archivo ExtraBold" panose="020B0604020202020204" charset="0"/>
      <p:bold r:id="rId12"/>
      <p:boldItalic r:id="rId13"/>
    </p:embeddedFont>
    <p:embeddedFont>
      <p:font typeface="Archivo Light" panose="020B060402020202020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gRIfC3IOTSa1CmiUdIdvghPDL28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IS OSPINO HERRERA" initials="LO" lastIdx="1" clrIdx="0">
    <p:extLst>
      <p:ext uri="{19B8F6BF-5375-455C-9EA6-DF929625EA0E}">
        <p15:presenceInfo xmlns:p15="http://schemas.microsoft.com/office/powerpoint/2012/main" userId="S::lantonioospino@unicesar.edu.co::2b3b4db5-659b-4dbc-ab9f-3121a6d2c4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71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5T17:02:14.969" idx="1">
    <p:pos x="10" y="10"/>
    <p:text>- Sincronización de carga: Evita que el script falle cuando un elemento (botón, campo, texto) tarda en aparecer tras una acción o carga de página.
- Elementos dinámicos: Gestiona la carga asíncrona (AJAX/JS) al esperar el tiempo definido antes de lanzar un error, permitiendo que la interfaz termine de renderizarse.
- Frágilidad del script: Reduce drásticamente la necesidad de usar esperas fijas inseguras como Thread.sleep().</p:text>
    <p:extLst>
      <p:ext uri="{C676402C-5697-4E1C-873F-D02D1690AC5C}">
        <p15:threadingInfo xmlns:p15="http://schemas.microsoft.com/office/powerpoint/2012/main" timeZoneBias="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6EB82907-565F-B2A3-5837-54309841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>
            <a:extLst>
              <a:ext uri="{FF2B5EF4-FFF2-40B4-BE49-F238E27FC236}">
                <a16:creationId xmlns:a16="http://schemas.microsoft.com/office/drawing/2014/main" id="{2F2D7D72-540A-CC21-BB73-9E433EEB7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" name="Google Shape;29;p2:notes">
            <a:extLst>
              <a:ext uri="{FF2B5EF4-FFF2-40B4-BE49-F238E27FC236}">
                <a16:creationId xmlns:a16="http://schemas.microsoft.com/office/drawing/2014/main" id="{41C9DAF0-B9FB-8D4F-06CB-0FE993D376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9511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9" name="Google Shape;60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BFC7-A8AF-4833-2E77-5F212CEE9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3D46D-B638-2628-91AA-5D8484884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BB80A-4C10-9040-009F-AE92F844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8E060-B0E5-DA93-1766-A36909DD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B638-32C9-0E73-70B9-4015FDAA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2274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38FF-E0D9-C414-7B87-507B6B10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C9ED-E2B4-D3DF-F31F-FDE360B7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F4B58-E7DF-7C43-D22D-16F25DF0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0B99-6053-51EB-70E2-1DB73477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1999-651F-2C42-C874-BE6BC58E0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4935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90A8-E474-7430-F7A3-61A0C15A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CF093-838D-EDC5-5104-30DDE5F33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363B-66A4-01E9-13AE-476AAAA3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F8581-0EB1-D1BF-F210-005C6502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DF83F-45A1-F6AB-7E1F-48826F4A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91738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AAE6-4589-2849-1C95-CAB876E1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9CE81-ABBE-5A22-59AA-E6B4D7ADB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4AB83-5BFA-942E-2BCA-069140ABF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65571-27C0-72AE-52C2-7DA43281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1A876-DAB7-9AF4-0B07-5AA10374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C4B30-BEFC-0ADD-1FB1-9A3AC4DD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81187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14A6-3E07-B8F3-6816-74BB01E3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062A3-8431-1037-DEB8-FD86DFEA3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5341F-D7B1-F0FD-D803-B6DBEB609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21586-060B-F048-A924-9F1D17AEF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36A85-0D8F-11E3-B4EE-67F6EA87E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DBFE0-0438-E5E5-7606-D3325C38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09DE7-7579-1B2B-EA01-CB127066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76DB-FC95-D265-C354-DEF4D29E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0912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6160-476F-D6CD-9AB1-D82C53D9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BE33A6-D3A3-6679-F83B-C6C648B6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CB3D2-F7ED-2A25-6552-666B5619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A4837-F995-8BB4-2D02-26145C12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83079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8E016-76D3-B41C-CE1F-302ACB21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CED97-9D96-9376-0761-6AE59414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3406D-52CD-7055-E66C-68DD3E11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07199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454E-D560-61B4-E15F-F1FF7A40B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704A3-BF9C-DCEC-1394-720F2E0B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2FD76-CC4C-CA94-46DE-A9E4B63D7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2F57D-E159-F59C-CB6D-5994A5F9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971A3-1111-AAC8-380D-6CF1EF93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9F897-F901-E2F7-C353-11F12A7E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43223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324B-32DD-3863-57C3-A70D5001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614A6-DB5E-13FB-598C-B06B158B6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78667-403D-8B27-A310-29C2D82BD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D8499-F48F-EB99-9A15-01FCCD4F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5E7EE-8CAC-242F-BE28-8C39D291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9635F-FCC5-B534-157D-F01512FD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16661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E9CE-4BDC-BA99-1461-BADF8923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D2CB-8588-A8E4-2836-6372EFA1D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CE65C-BB11-519C-1929-66DDC223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59348-EF04-0C1A-8DC1-6058C5FD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994EE-E411-7D30-F328-33DC4B26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09352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4F771-1075-30B1-1439-E333A2E82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01FA2-DDF4-3D2B-0CC9-B2E0D79ED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C4AA8-6F71-FDB0-FB4D-381B48C5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787BE-135F-EF18-767D-6130DA4D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99DF7-8FC4-EE0D-7F02-B02181CF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859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2">
  <p:cSld name="Portada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536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1">
  <p:cSld name="Portada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412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3">
  <p:cSld name="Portada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929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4">
  <p:cSld name="Portada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216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01323-A6AE-89A1-C51E-BDCE75EF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1E275-8B83-2879-F8C4-5E0D88F86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8809C-E237-7971-B02C-0BBFF01E0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027A1-230A-4370-932C-6A2558375FD2}" type="datetimeFigureOut">
              <a:rPr lang="es-CO" smtClean="0"/>
              <a:t>5/03/2026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31554-1ADD-D8F3-A0FA-F93292AC8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05352-12F5-5F3A-CBC5-14310C665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3199E-1EC1-41BF-AFDA-7B51E15CD77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710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6986" y="2503416"/>
            <a:ext cx="812800" cy="24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/>
        </p:nvSpPr>
        <p:spPr>
          <a:xfrm>
            <a:off x="1249687" y="1300609"/>
            <a:ext cx="522931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6000"/>
            </a:pPr>
            <a:r>
              <a:rPr lang="es-ES" sz="2800" b="1" dirty="0"/>
              <a:t>Automatizaciones de prueba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249687" y="2380867"/>
            <a:ext cx="353173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000"/>
            </a:pPr>
            <a:r>
              <a:rPr lang="es-ES" sz="3200" b="1" dirty="0"/>
              <a:t>Esperas Implícitas en Selenium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6;p1">
            <a:extLst>
              <a:ext uri="{FF2B5EF4-FFF2-40B4-BE49-F238E27FC236}">
                <a16:creationId xmlns:a16="http://schemas.microsoft.com/office/drawing/2014/main" id="{AC15A610-7CA2-6DEE-63CE-C4DE479D65AD}"/>
              </a:ext>
            </a:extLst>
          </p:cNvPr>
          <p:cNvSpPr txBox="1"/>
          <p:nvPr/>
        </p:nvSpPr>
        <p:spPr>
          <a:xfrm>
            <a:off x="1249687" y="4511032"/>
            <a:ext cx="35317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000"/>
            </a:pPr>
            <a:r>
              <a:rPr lang="es-CO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Gabriel Perero</a:t>
            </a:r>
          </a:p>
          <a:p>
            <a:pPr lvl="0">
              <a:buSzPts val="3000"/>
            </a:pPr>
            <a:r>
              <a:rPr lang="es-CO" b="1" dirty="0"/>
              <a:t>Luis Ospino</a:t>
            </a:r>
          </a:p>
        </p:txBody>
      </p:sp>
      <p:pic>
        <p:nvPicPr>
          <p:cNvPr id="1026" name="Picture 2" descr="Icono de Espera Generic color lineal-color | Freepik">
            <a:extLst>
              <a:ext uri="{FF2B5EF4-FFF2-40B4-BE49-F238E27FC236}">
                <a16:creationId xmlns:a16="http://schemas.microsoft.com/office/drawing/2014/main" id="{7F48FDC3-CCC8-EB5E-338D-02CD3C47C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786" y="392777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/>
        </p:nvSpPr>
        <p:spPr>
          <a:xfrm>
            <a:off x="2526323" y="197029"/>
            <a:ext cx="334107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ES" sz="4000" b="1" dirty="0">
                <a:solidFill>
                  <a:srgbClr val="ED7402"/>
                </a:solidFill>
                <a:latin typeface="Archivo"/>
                <a:ea typeface="Archivo"/>
                <a:cs typeface="Archivo"/>
                <a:sym typeface="Archivo"/>
              </a:rPr>
              <a:t>Arquitectura</a:t>
            </a:r>
            <a:endParaRPr lang="es-ES" sz="4000" b="1" i="0" u="none" strike="noStrike" cap="none" dirty="0">
              <a:solidFill>
                <a:srgbClr val="ED740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92F5F-E856-2CCC-C381-6FBEFAD1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29"/>
          <a:stretch>
            <a:fillRect/>
          </a:stretch>
        </p:blipFill>
        <p:spPr>
          <a:xfrm>
            <a:off x="2409825" y="904875"/>
            <a:ext cx="7372350" cy="5434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468923" y="1562200"/>
            <a:ext cx="522931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ES" sz="6000" b="1" i="0" u="none" strike="noStrike" cap="none" dirty="0">
                <a:solidFill>
                  <a:srgbClr val="ED7402"/>
                </a:solidFill>
                <a:latin typeface="Archivo"/>
                <a:ea typeface="Archivo"/>
                <a:cs typeface="Archivo"/>
                <a:sym typeface="Archivo"/>
              </a:rPr>
              <a:t>Problemática</a:t>
            </a:r>
          </a:p>
        </p:txBody>
      </p:sp>
      <p:sp>
        <p:nvSpPr>
          <p:cNvPr id="34" name="Google Shape;34;p2"/>
          <p:cNvSpPr txBox="1"/>
          <p:nvPr/>
        </p:nvSpPr>
        <p:spPr>
          <a:xfrm>
            <a:off x="553764" y="2737338"/>
            <a:ext cx="479123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 pitchFamily="34" charset="0"/>
              <a:buChar char="•"/>
            </a:pPr>
            <a:r>
              <a:rPr lang="es-ES" sz="3000" b="0" i="0" u="none" strike="noStrike" cap="none" dirty="0">
                <a:latin typeface="Archivo Light"/>
                <a:ea typeface="Archivo Light"/>
                <a:cs typeface="Archivo Light"/>
                <a:sym typeface="Archivo Light"/>
              </a:rPr>
              <a:t>Sincronización de carga</a:t>
            </a:r>
            <a:endParaRPr lang="es-ES"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4;p2">
            <a:extLst>
              <a:ext uri="{FF2B5EF4-FFF2-40B4-BE49-F238E27FC236}">
                <a16:creationId xmlns:a16="http://schemas.microsoft.com/office/drawing/2014/main" id="{5CEEEEA9-321F-262F-C03E-F7EED6B0258C}"/>
              </a:ext>
            </a:extLst>
          </p:cNvPr>
          <p:cNvSpPr txBox="1"/>
          <p:nvPr/>
        </p:nvSpPr>
        <p:spPr>
          <a:xfrm>
            <a:off x="553764" y="3311517"/>
            <a:ext cx="479123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 pitchFamily="34" charset="0"/>
              <a:buChar char="•"/>
            </a:pPr>
            <a:r>
              <a:rPr lang="es-ES" sz="3000" b="0" i="0" u="none" strike="noStrike" cap="none" dirty="0">
                <a:latin typeface="Archivo Light"/>
                <a:ea typeface="Archivo Light"/>
                <a:cs typeface="Archivo Light"/>
                <a:sym typeface="Archivo Light"/>
              </a:rPr>
              <a:t>Elementos dinámicos</a:t>
            </a:r>
            <a:endParaRPr lang="es-ES"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4;p2">
            <a:extLst>
              <a:ext uri="{FF2B5EF4-FFF2-40B4-BE49-F238E27FC236}">
                <a16:creationId xmlns:a16="http://schemas.microsoft.com/office/drawing/2014/main" id="{0FA84A89-4C57-F82E-9494-E50AFBDD4B7D}"/>
              </a:ext>
            </a:extLst>
          </p:cNvPr>
          <p:cNvSpPr txBox="1"/>
          <p:nvPr/>
        </p:nvSpPr>
        <p:spPr>
          <a:xfrm>
            <a:off x="553764" y="3865474"/>
            <a:ext cx="479123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 pitchFamily="34" charset="0"/>
              <a:buChar char="•"/>
            </a:pPr>
            <a:r>
              <a:rPr lang="es-ES" sz="3000" b="0" i="0" u="none" strike="noStrike" cap="none" dirty="0">
                <a:latin typeface="Archivo Light"/>
                <a:ea typeface="Archivo Light"/>
                <a:cs typeface="Archivo Light"/>
                <a:sym typeface="Archivo Light"/>
              </a:rPr>
              <a:t>Fragilidad del script</a:t>
            </a:r>
            <a:endParaRPr lang="es-ES"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2" name="Picture 4" descr="Pruebas de automatización - Iconos gratis de industria">
            <a:extLst>
              <a:ext uri="{FF2B5EF4-FFF2-40B4-BE49-F238E27FC236}">
                <a16:creationId xmlns:a16="http://schemas.microsoft.com/office/drawing/2014/main" id="{43A3B5E7-8C9E-490D-7077-A8F1D1178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559" y="1261204"/>
            <a:ext cx="4335592" cy="43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24;p1">
            <a:extLst>
              <a:ext uri="{FF2B5EF4-FFF2-40B4-BE49-F238E27FC236}">
                <a16:creationId xmlns:a16="http://schemas.microsoft.com/office/drawing/2014/main" id="{E32EDD8E-DEFA-217F-A569-C15726051B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25517" y="3014316"/>
            <a:ext cx="812800" cy="24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2BC8FFEB-2715-264C-0F79-E8059055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>
            <a:extLst>
              <a:ext uri="{FF2B5EF4-FFF2-40B4-BE49-F238E27FC236}">
                <a16:creationId xmlns:a16="http://schemas.microsoft.com/office/drawing/2014/main" id="{D64762C6-D0B8-2936-5BA4-78688B6DD223}"/>
              </a:ext>
            </a:extLst>
          </p:cNvPr>
          <p:cNvSpPr txBox="1"/>
          <p:nvPr/>
        </p:nvSpPr>
        <p:spPr>
          <a:xfrm>
            <a:off x="2156320" y="95777"/>
            <a:ext cx="898616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ES" sz="6000" b="1" i="0" u="none" strike="noStrike" cap="none" dirty="0">
                <a:solidFill>
                  <a:srgbClr val="ED7402"/>
                </a:solidFill>
                <a:latin typeface="Archivo"/>
                <a:ea typeface="Archivo"/>
                <a:cs typeface="Archivo"/>
                <a:sym typeface="Archivo"/>
              </a:rPr>
              <a:t>Ventajas y desventajas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BF24AF-B8E4-C5D5-03D3-30B834032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504087"/>
              </p:ext>
            </p:extLst>
          </p:nvPr>
        </p:nvGraphicFramePr>
        <p:xfrm>
          <a:off x="2032000" y="1534055"/>
          <a:ext cx="81280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396304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45440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Ventajas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Desventajas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675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Simplicidad y Configuración Global: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Se definen una sola vez al inicio de la sesión del navegador y se aplican automáticamente a todos los elementos durante la vida útil del objeto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WebDriver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Ralentización de Pruebas: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Si un elemento tarda en aparecer, el controlador espera el tiempo máximo configurado antes de lanzar una excepción, aumentando el tiempo total de ejecución.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95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Código más Limpio: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Evitan tener que poner instrucciones de espera después de cada comando 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find_element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Alcance Limitado: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Solo funcionan para 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findElement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(localizar elementos). No sirven para esperar condiciones específicas como "elemento </a:t>
                      </a:r>
                      <a:r>
                        <a:rPr lang="es-E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clicable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 "invisibilidad", o la carga de alertas/URL.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70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E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Manejo de Cargas Asíncronas: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Útil en aplicaciones web modernas para dar tiempo a que los elementos sean renderizados posteriormente.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Riesgo de Conflictos:</a:t>
                      </a:r>
                      <a:r>
                        <a:rPr lang="es-E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 se recomienda mezclarlas con esperas explícitas, ya que pueden causar comportamientos impredecibles en los tiempos de espera.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13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s-CO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s-CO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Menos Flexibilidad:</a:t>
                      </a:r>
                      <a:r>
                        <a:rPr lang="es-CO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 diferencia de las esperas explícitas, no son dinámicas ni específicas para cada elemento, aplicándose por igual a búsquedas rápidas o lentas.</a:t>
                      </a:r>
                      <a:endParaRPr lang="es-CO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94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9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"/>
          <p:cNvSpPr txBox="1"/>
          <p:nvPr/>
        </p:nvSpPr>
        <p:spPr>
          <a:xfrm>
            <a:off x="370599" y="1145773"/>
            <a:ext cx="11107026" cy="131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975" tIns="115975" rIns="115975" bIns="1159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ES" sz="7000" b="1" i="0" u="none" strike="noStrike" cap="none" dirty="0">
                <a:solidFill>
                  <a:schemeClr val="lt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¡</a:t>
            </a:r>
            <a:r>
              <a:rPr lang="es-ES" sz="7000" b="1" dirty="0">
                <a:solidFill>
                  <a:schemeClr val="lt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Vamos a los ejemplos</a:t>
            </a:r>
            <a:r>
              <a:rPr lang="es-ES" sz="7000" b="1" i="0" u="none" strike="noStrike" cap="none" dirty="0">
                <a:solidFill>
                  <a:schemeClr val="lt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!</a:t>
            </a:r>
            <a:endParaRPr sz="7000" b="1" i="0" u="none" strike="noStrike" cap="none" dirty="0">
              <a:solidFill>
                <a:schemeClr val="lt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612" name="Google Shape;612;p35"/>
          <p:cNvSpPr txBox="1"/>
          <p:nvPr/>
        </p:nvSpPr>
        <p:spPr>
          <a:xfrm>
            <a:off x="9742941" y="3505270"/>
            <a:ext cx="2300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Blvr. Naciones Unidas, Quito 170135, Ecuador - Edificio Metropolitan</a:t>
            </a:r>
            <a:endParaRPr sz="1500" b="0" i="0" u="none" strike="noStrike" cap="non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35"/>
          <p:cNvSpPr txBox="1"/>
          <p:nvPr/>
        </p:nvSpPr>
        <p:spPr>
          <a:xfrm>
            <a:off x="9742949" y="3222605"/>
            <a:ext cx="11223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Ecuador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4" name="Google Shape;614;p35"/>
          <p:cNvSpPr txBox="1"/>
          <p:nvPr/>
        </p:nvSpPr>
        <p:spPr>
          <a:xfrm>
            <a:off x="7650546" y="3505270"/>
            <a:ext cx="2127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Av. Paseo de la Reforma 284</a:t>
            </a: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35"/>
          <p:cNvSpPr txBox="1"/>
          <p:nvPr/>
        </p:nvSpPr>
        <p:spPr>
          <a:xfrm>
            <a:off x="7650561" y="3228177"/>
            <a:ext cx="14694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México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35"/>
          <p:cNvSpPr txBox="1"/>
          <p:nvPr/>
        </p:nvSpPr>
        <p:spPr>
          <a:xfrm>
            <a:off x="5718685" y="3246308"/>
            <a:ext cx="14523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Medellín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35"/>
          <p:cNvSpPr txBox="1"/>
          <p:nvPr/>
        </p:nvSpPr>
        <p:spPr>
          <a:xfrm>
            <a:off x="5729698" y="3505270"/>
            <a:ext cx="14694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Calle 12 # 30 – 80</a:t>
            </a: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8" name="Google Shape;618;p35"/>
          <p:cNvSpPr txBox="1"/>
          <p:nvPr/>
        </p:nvSpPr>
        <p:spPr>
          <a:xfrm>
            <a:off x="5729695" y="3902456"/>
            <a:ext cx="1295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Bogotá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35"/>
          <p:cNvSpPr txBox="1"/>
          <p:nvPr/>
        </p:nvSpPr>
        <p:spPr>
          <a:xfrm>
            <a:off x="5729699" y="4178460"/>
            <a:ext cx="1641900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Centro Empresarial Paralelo 108 Av. Carrera 45 No. 108-27 Torre 2 Oficina 1103</a:t>
            </a: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7650531" y="3902456"/>
            <a:ext cx="174561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 Miami, FL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Google Shape;621;p35"/>
          <p:cNvSpPr txBox="1"/>
          <p:nvPr/>
        </p:nvSpPr>
        <p:spPr>
          <a:xfrm>
            <a:off x="7650551" y="4175325"/>
            <a:ext cx="1569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100 Southeast Third Avenue Suite 1000 Fort Lauderdale, FL 33394</a:t>
            </a: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Google Shape;622;p35"/>
          <p:cNvSpPr txBox="1"/>
          <p:nvPr/>
        </p:nvSpPr>
        <p:spPr>
          <a:xfrm>
            <a:off x="9742945" y="3904045"/>
            <a:ext cx="1295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16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Uruguay</a:t>
            </a:r>
            <a:endParaRPr sz="16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35"/>
          <p:cNvSpPr txBox="1"/>
          <p:nvPr/>
        </p:nvSpPr>
        <p:spPr>
          <a:xfrm>
            <a:off x="9742941" y="4175334"/>
            <a:ext cx="2127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Paysandú, Salto 916</a:t>
            </a:r>
            <a:endParaRPr sz="9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24" name="Google Shape;624;p35"/>
          <p:cNvGrpSpPr/>
          <p:nvPr/>
        </p:nvGrpSpPr>
        <p:grpSpPr>
          <a:xfrm>
            <a:off x="-1" y="2985247"/>
            <a:ext cx="4615581" cy="2800939"/>
            <a:chOff x="-1" y="2203995"/>
            <a:chExt cx="5017276" cy="3044705"/>
          </a:xfrm>
        </p:grpSpPr>
        <p:sp>
          <p:nvSpPr>
            <p:cNvPr id="625" name="Google Shape;625;p35"/>
            <p:cNvSpPr/>
            <p:nvPr/>
          </p:nvSpPr>
          <p:spPr>
            <a:xfrm rot="10800000" flipH="1">
              <a:off x="-1" y="2203995"/>
              <a:ext cx="5017276" cy="3044705"/>
            </a:xfrm>
            <a:prstGeom prst="round1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6" name="Google Shape;626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4085" y="2863446"/>
              <a:ext cx="3324717" cy="16778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7" name="Google Shape;627;p35" descr="Marcad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4339" y="3130750"/>
            <a:ext cx="407296" cy="40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35" descr="Marcad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4339" y="3782013"/>
            <a:ext cx="407296" cy="40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35" descr="Marcad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5236" y="3130750"/>
            <a:ext cx="407296" cy="40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35" descr="Marcad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5236" y="3782013"/>
            <a:ext cx="407296" cy="40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35" descr="Marcad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6908" y="3130750"/>
            <a:ext cx="407296" cy="40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35" descr="Marcad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6908" y="3782013"/>
            <a:ext cx="407296" cy="407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284</Words>
  <Application>Microsoft Office PowerPoint</Application>
  <PresentationFormat>Widescreen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Archivo Light</vt:lpstr>
      <vt:lpstr>Inter Medium</vt:lpstr>
      <vt:lpstr>Archivo ExtraBold</vt:lpstr>
      <vt:lpstr>Archivo</vt:lpstr>
      <vt:lpstr>Calibri</vt:lpstr>
      <vt:lpstr>Arial</vt:lpstr>
      <vt:lpstr>Inter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 OSPINO</dc:creator>
  <cp:lastModifiedBy>LUIS OSPINO HERRERA</cp:lastModifiedBy>
  <cp:revision>6</cp:revision>
  <dcterms:modified xsi:type="dcterms:W3CDTF">2026-03-06T03:42:45Z</dcterms:modified>
</cp:coreProperties>
</file>